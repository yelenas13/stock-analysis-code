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8"/>
  </p:notesMasterIdLst>
  <p:handoutMasterIdLst>
    <p:handoutMasterId r:id="rId19"/>
  </p:handoutMasterIdLst>
  <p:sldIdLst>
    <p:sldId id="410" r:id="rId5"/>
    <p:sldId id="268" r:id="rId6"/>
    <p:sldId id="271" r:id="rId7"/>
    <p:sldId id="269" r:id="rId8"/>
    <p:sldId id="411" r:id="rId9"/>
    <p:sldId id="412" r:id="rId10"/>
    <p:sldId id="274" r:id="rId11"/>
    <p:sldId id="266" r:id="rId12"/>
    <p:sldId id="270" r:id="rId13"/>
    <p:sldId id="275" r:id="rId14"/>
    <p:sldId id="276" r:id="rId15"/>
    <p:sldId id="277" r:id="rId16"/>
    <p:sldId id="39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4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31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2/16/2025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2/16/2025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102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3D71A-D52A-0CE3-7741-432212E9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68233-F4D1-F549-B4CA-41403560C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8A3DA-2ABF-EF04-834B-FE66A0830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A95A1-9491-C917-E898-2384FAAFA9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05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00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F7C69-C75F-1823-A284-854ECEB98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50527-5CB3-299F-2414-F63DD8E23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8981D-96BA-A7C1-3678-7D0D92484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53E73-A049-F642-4860-C45229FFB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572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1430-D0F3-5CF8-565C-5CFB1E71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0EF6F-BAB5-2419-5342-4BE604A10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7FDD7-BA78-BAC4-3D64-D92249F1E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FF653-F042-3921-C20F-535D4FB58E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863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1A718-3364-098E-ACAA-A1E834DFD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2D5E3-24E4-3720-3AF8-93A6AB0AE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583D0-CE08-41B0-61C9-F524E01F2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B8382-3AAD-832E-2397-8190A50FE6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908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When conducting research, it is easy to go to one source: Wikipedia.  However, you need to include a variety of sources in your research. Consider the following sources: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Who can I interview to get more information on the topic?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Is the topic current and will it be relevant to my audience?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What articles, blogs, and magazines may have something related to my topic?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Is there a YouTube video on the topic? If so, what is it about?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What images can I find related to the topic?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961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Once you find your sources, you will want to evaluate your sources using the following questions: 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Author: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Who is the author?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Why should I believe what he or she has to say on the topic?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author seen as an expert on the topic? How do you know?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Current: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How current is the information in the source?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When was the source published?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information out-of-date?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Accuracy: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content accurate?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information presented objectively?  Do they share the pros and cons?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123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1CCB9-F81E-89B2-012B-4D5EBC5C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B484C-0480-9AB2-06B0-6F4024C04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462E4-4A73-6B0C-C50E-0A49773CC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Once you find your sources, you will want to evaluate your sources using the following questions: 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Author: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Who is the author?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Why should I believe what he or she has to say on the topic?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author seen as an expert on the topic? How do you know?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Current: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How current is the information in the source?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When was the source published?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information out-of-date?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Accuracy: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content accurate?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information presented objectively?  Do they share the pros and cons?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5DA8B-6F28-B8BA-32E0-3AFF7A92CA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822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CF521-F3B7-DD27-EDF7-427633B03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94E56-BDC8-136F-48F5-47F064C5B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B26F6-BD72-98A3-001B-976F081D2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Once you find your sources, you will want to evaluate your sources using the following questions: 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Author: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Who is the author?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Why should I believe what he or she has to say on the topic?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author seen as an expert on the topic? How do you know?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Current: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How current is the information in the source?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When was the source published?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information out-of-date?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Accuracy: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content accurate?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information presented objectively?  Do they share the pros and cons?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91244-2DF5-99EA-BC00-FDEB22CE10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140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108D8-4612-FA71-D704-2EDF31E3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42B7B7-D9E5-342B-C341-2BD982F0E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77CEB-33EA-CB93-1F91-4333D49D9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Once you find your sources, you will want to evaluate your sources using the following questions: 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Author: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Who is the author?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Why should I believe what he or she has to say on the topic?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author seen as an expert on the topic? How do you know?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Current: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How current is the information in the source?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When was the source published?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information out-of-date?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Accuracy: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content accurate?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information presented objectively?  Do they share the pros and cons?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A796D-218F-DC03-2A88-D2268AE76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083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034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2/16/2025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331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  <p:sldLayoutId id="2147483712" r:id="rId14"/>
    <p:sldLayoutId id="2147483713" r:id="rId15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alpharithms.com/python-financial-data-49111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.png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955" y="137160"/>
            <a:ext cx="5486400" cy="3291840"/>
          </a:xfrm>
        </p:spPr>
        <p:txBody>
          <a:bodyPr/>
          <a:lstStyle/>
          <a:p>
            <a:pPr algn="l"/>
            <a:r>
              <a:rPr lang="en-US" sz="6000" b="1" dirty="0">
                <a:latin typeface="Franklin Gothic Book" panose="020B0503020102020204" pitchFamily="34" charset="0"/>
              </a:rPr>
              <a:t>Predicting Stock Prices Using Historical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E08283-0D5A-73B1-AA2E-EA8F3DB33F72}"/>
              </a:ext>
            </a:extLst>
          </p:cNvPr>
          <p:cNvSpPr txBox="1"/>
          <p:nvPr/>
        </p:nvSpPr>
        <p:spPr>
          <a:xfrm>
            <a:off x="6255931" y="3429000"/>
            <a:ext cx="6185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Financial Data Analysis Using </a:t>
            </a:r>
            <a:r>
              <a:rPr lang="en-US" dirty="0">
                <a:solidFill>
                  <a:schemeClr val="bg1"/>
                </a:solidFill>
              </a:rPr>
              <a:t>Python (Case Study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875C0-FBFA-3A42-5056-7431F3AB2613}"/>
              </a:ext>
            </a:extLst>
          </p:cNvPr>
          <p:cNvSpPr txBox="1"/>
          <p:nvPr/>
        </p:nvSpPr>
        <p:spPr>
          <a:xfrm>
            <a:off x="6255931" y="4286923"/>
            <a:ext cx="3157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Presentation By </a:t>
            </a:r>
            <a:b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Yelena Mujibur Sheikh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824B-4279-4D47-92DD-71F5353F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24" y="721813"/>
            <a:ext cx="6438198" cy="503516"/>
          </a:xfrm>
        </p:spPr>
        <p:txBody>
          <a:bodyPr>
            <a:normAutofit fontScale="90000"/>
          </a:bodyPr>
          <a:lstStyle/>
          <a:p>
            <a:r>
              <a:rPr lang="en-US" dirty="0"/>
              <a:t> Aim to Solve the problem:</a:t>
            </a:r>
            <a:endParaRPr lang="en-US" dirty="0">
              <a:cs typeface="Segoe UI" panose="020B050204020402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5585411-DE61-42EC-8DAB-BA853F129791}"/>
              </a:ext>
            </a:extLst>
          </p:cNvPr>
          <p:cNvSpPr/>
          <p:nvPr/>
        </p:nvSpPr>
        <p:spPr>
          <a:xfrm>
            <a:off x="1152270" y="1557291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AD4F61-E023-4530-BF03-8BC2D825D0BF}"/>
              </a:ext>
            </a:extLst>
          </p:cNvPr>
          <p:cNvSpPr txBox="1"/>
          <p:nvPr/>
        </p:nvSpPr>
        <p:spPr>
          <a:xfrm>
            <a:off x="1738424" y="2172690"/>
            <a:ext cx="3657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Understanding stock trends, risk, and variance for better investment decisions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1E12A6-FA7A-477F-8C87-308C5B84B139}"/>
              </a:ext>
            </a:extLst>
          </p:cNvPr>
          <p:cNvSpPr/>
          <p:nvPr/>
        </p:nvSpPr>
        <p:spPr>
          <a:xfrm>
            <a:off x="6096000" y="1491356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91F50B-1569-FB4A-CB93-53E2810F1E76}"/>
              </a:ext>
            </a:extLst>
          </p:cNvPr>
          <p:cNvSpPr txBox="1"/>
          <p:nvPr/>
        </p:nvSpPr>
        <p:spPr>
          <a:xfrm>
            <a:off x="1738424" y="1526359"/>
            <a:ext cx="3755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Analyzing stock price data over five years (2020-2025)</a:t>
            </a:r>
            <a:endParaRPr lang="en-IN" b="1" dirty="0">
              <a:solidFill>
                <a:schemeClr val="bg1"/>
              </a:solidFill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6AB6921-F97F-8D8E-847E-82D426997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2154" y="2188577"/>
            <a:ext cx="405940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Palo Alto Networks (PANW)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Check Point Software (CHKP)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CrowdStrike (CRWD)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Fortinet (FTNT)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Zscaler (ZS)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bg1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chemeClr val="bg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These are all cybersecurity companies</a:t>
            </a:r>
            <a:endParaRPr lang="en-US" altLang="en-US" dirty="0">
              <a:solidFill>
                <a:schemeClr val="bg1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B35D27-3659-3114-8A6E-3DB1E8995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155" y="4583352"/>
            <a:ext cx="4059408" cy="64633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C665220-B9B9-DC98-9DB9-1DC3D9926CFC}"/>
              </a:ext>
            </a:extLst>
          </p:cNvPr>
          <p:cNvSpPr txBox="1"/>
          <p:nvPr/>
        </p:nvSpPr>
        <p:spPr>
          <a:xfrm>
            <a:off x="9689829" y="4583352"/>
            <a:ext cx="1710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Load the </a:t>
            </a:r>
            <a:r>
              <a:rPr lang="en-IN" sz="1600" b="1" dirty="0">
                <a:solidFill>
                  <a:schemeClr val="bg1"/>
                </a:solidFill>
              </a:rPr>
              <a:t>repository 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1ECAF5-0E52-26E3-5BD0-5A5F9E066F07}"/>
              </a:ext>
            </a:extLst>
          </p:cNvPr>
          <p:cNvSpPr txBox="1"/>
          <p:nvPr/>
        </p:nvSpPr>
        <p:spPr>
          <a:xfrm>
            <a:off x="6682154" y="1582151"/>
            <a:ext cx="7235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Chosen Stock: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EB2BD5-C0DE-2849-F422-50DA9A812715}"/>
              </a:ext>
            </a:extLst>
          </p:cNvPr>
          <p:cNvSpPr txBox="1"/>
          <p:nvPr/>
        </p:nvSpPr>
        <p:spPr>
          <a:xfrm>
            <a:off x="523949" y="3043662"/>
            <a:ext cx="620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ystem-ui"/>
              </a:rPr>
              <a:t>here is a reference:</a:t>
            </a:r>
          </a:p>
          <a:p>
            <a:r>
              <a:rPr lang="en-US" b="0" i="0" dirty="0">
                <a:effectLst/>
                <a:latin typeface="system-ui"/>
              </a:rPr>
              <a:t> </a:t>
            </a:r>
            <a:r>
              <a:rPr lang="en-US" b="0" i="0" u="none" strike="noStrike" dirty="0">
                <a:effectLst/>
                <a:latin typeface="system-ui"/>
                <a:hlinkClick r:id="rId4"/>
              </a:rPr>
              <a:t>https://www.alpharithms.com/python-financial-data-491110/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491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60D9E-662D-9E67-D3A6-A5EB12DD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1D1E36-5509-8399-D302-FAFA17AA8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085" y="770777"/>
            <a:ext cx="8911687" cy="495996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Data Extraction Using </a:t>
            </a:r>
            <a:r>
              <a:rPr lang="en-IN" sz="4000" dirty="0" err="1"/>
              <a:t>yFinance</a:t>
            </a:r>
            <a:endParaRPr lang="en-US" sz="4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DF5308-5054-7372-8015-4B84BE3E2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123" y="194836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A9EB08-6014-5FE2-26C0-6B1C9E4FBA68}"/>
              </a:ext>
            </a:extLst>
          </p:cNvPr>
          <p:cNvSpPr txBox="1"/>
          <p:nvPr/>
        </p:nvSpPr>
        <p:spPr>
          <a:xfrm>
            <a:off x="2071577" y="13574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Process: Extract historical stock data from Yahoo Finance</a:t>
            </a:r>
          </a:p>
          <a:p>
            <a:r>
              <a:rPr lang="en-US" b="1" dirty="0">
                <a:solidFill>
                  <a:schemeClr val="bg1"/>
                </a:solidFill>
              </a:rPr>
              <a:t>Load data into Pandas for analysis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7399AA-9598-863C-5F47-B625E0FC2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005" y="2125518"/>
            <a:ext cx="6096000" cy="443499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8DCCF7-A5EE-2C14-B816-93F7A801D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044625" y="2838692"/>
            <a:ext cx="2312566" cy="0"/>
          </a:xfrm>
          <a:prstGeom prst="straightConnector1">
            <a:avLst/>
          </a:prstGeom>
          <a:ln w="28575">
            <a:solidFill>
              <a:srgbClr val="A9D4D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6079AA-2CB4-8244-7DC4-078C6CC9B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582471" y="2368914"/>
            <a:ext cx="3774720" cy="0"/>
          </a:xfrm>
          <a:prstGeom prst="straightConnector1">
            <a:avLst/>
          </a:prstGeom>
          <a:ln w="28575">
            <a:solidFill>
              <a:srgbClr val="A9D4D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9314D1F-A678-F916-ED29-FAF1F2F68333}"/>
              </a:ext>
            </a:extLst>
          </p:cNvPr>
          <p:cNvSpPr txBox="1"/>
          <p:nvPr/>
        </p:nvSpPr>
        <p:spPr>
          <a:xfrm>
            <a:off x="8357191" y="31238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Timeframe:</a:t>
            </a:r>
            <a:r>
              <a:rPr lang="en-US" dirty="0">
                <a:solidFill>
                  <a:schemeClr val="bg1"/>
                </a:solidFill>
              </a:rPr>
              <a:t> 2020-2025 stock price data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E343FE-2EC8-1EF7-0A58-B33B20809253}"/>
              </a:ext>
            </a:extLst>
          </p:cNvPr>
          <p:cNvSpPr txBox="1"/>
          <p:nvPr/>
        </p:nvSpPr>
        <p:spPr>
          <a:xfrm>
            <a:off x="8357191" y="2631112"/>
            <a:ext cx="6677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Stock </a:t>
            </a:r>
            <a:r>
              <a:rPr lang="en-US" dirty="0">
                <a:solidFill>
                  <a:schemeClr val="bg1"/>
                </a:solidFill>
              </a:rPr>
              <a:t>Listing data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7F74DA-BE2C-9041-1384-0B97E5CA7F99}"/>
              </a:ext>
            </a:extLst>
          </p:cNvPr>
          <p:cNvSpPr txBox="1"/>
          <p:nvPr/>
        </p:nvSpPr>
        <p:spPr>
          <a:xfrm>
            <a:off x="8357801" y="2174002"/>
            <a:ext cx="6968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Importing </a:t>
            </a:r>
            <a:r>
              <a:rPr lang="en-US" b="1" dirty="0" err="1">
                <a:solidFill>
                  <a:schemeClr val="bg1"/>
                </a:solidFill>
              </a:rPr>
              <a:t>yFinance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32EB76-1A0C-E9B0-3B0A-89E6CCA381AC}"/>
              </a:ext>
            </a:extLst>
          </p:cNvPr>
          <p:cNvSpPr txBox="1"/>
          <p:nvPr/>
        </p:nvSpPr>
        <p:spPr>
          <a:xfrm>
            <a:off x="8377823" y="5830660"/>
            <a:ext cx="7114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Saving file: CSV file with </a:t>
            </a:r>
            <a:r>
              <a:rPr lang="en-US" dirty="0">
                <a:solidFill>
                  <a:schemeClr val="bg1"/>
                </a:solidFill>
              </a:rPr>
              <a:t>stock data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A5D3A19-CF0E-AC21-E2C3-2255F3B50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065781" y="3327023"/>
            <a:ext cx="3291410" cy="26974"/>
          </a:xfrm>
          <a:prstGeom prst="straightConnector1">
            <a:avLst/>
          </a:prstGeom>
          <a:ln w="28575">
            <a:solidFill>
              <a:srgbClr val="A9D4D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ADD1AA-BD9E-DD41-0D1B-5277AA44E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723791" y="6001839"/>
            <a:ext cx="2633400" cy="13487"/>
          </a:xfrm>
          <a:prstGeom prst="straightConnector1">
            <a:avLst/>
          </a:prstGeom>
          <a:ln w="28575">
            <a:solidFill>
              <a:srgbClr val="A9D4D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082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BD0A42-B011-4DBF-B5CD-6718A97E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237" y="744841"/>
            <a:ext cx="6606712" cy="53458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IN" sz="4000" dirty="0"/>
              <a:t>Variance Analysis &amp; Tricks</a:t>
            </a:r>
            <a:endParaRPr lang="en-US" sz="4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E468E0-1E2D-4439-A9A0-6DAD141D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5259" y="168900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B43B9E4B-F9F0-A7C9-6B10-2510F417C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254" y="1446246"/>
            <a:ext cx="112360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Daily Returns: Measures short-term price changes.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AE920C-AA57-B4A3-BCC5-D4497D7FC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659" y="1998363"/>
            <a:ext cx="8809615" cy="372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8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34DC0-E956-823F-8CBF-CE04FE11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9340C-2A96-15F5-E444-3393DBFBA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237" y="744841"/>
            <a:ext cx="6606712" cy="53458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IN" sz="4000" dirty="0"/>
              <a:t>Variance Analysis &amp; Tricks</a:t>
            </a:r>
            <a:endParaRPr lang="en-US" sz="4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8FEACF-01CD-6B38-8BD4-3D8EDAE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929" y="168900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E9C3AD17-84E6-8E43-E59B-027D582B1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254" y="1446246"/>
            <a:ext cx="112360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Weekly Returns: Smoother than daily, capturing medium-term trends.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08A31B8-3A6B-28D4-8403-2AD049179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659" y="1998363"/>
            <a:ext cx="8809615" cy="30279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0F8E65-E76E-E458-70D2-D12D1A457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659" y="1929505"/>
            <a:ext cx="9068972" cy="376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15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B3FCB-4F99-B374-5A46-C03A11B3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D3E842-3826-CA95-E4C9-C9C01C673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237" y="744841"/>
            <a:ext cx="6606712" cy="53458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IN" sz="4000" dirty="0"/>
              <a:t>Variance Analysis &amp; Tricks</a:t>
            </a:r>
            <a:endParaRPr lang="en-US" sz="4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80D36E-1C16-B379-21B7-49BDD235D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251" y="168900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E328B5D7-040B-1BC4-CA06-37D815ED8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254" y="1446246"/>
            <a:ext cx="112360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Monthly Returns: Highlights long-term performance and investment potential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1E0417-27FE-045E-E734-D4E17CE3A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659" y="1998363"/>
            <a:ext cx="8809615" cy="30279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AA6F36-93DB-A041-C351-608DCA4D7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659" y="1918882"/>
            <a:ext cx="9068972" cy="3410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AD09B8-D8A5-985C-8D24-796E97DE9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1399" y="1997137"/>
            <a:ext cx="9186134" cy="389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523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68F8-C0FC-1A98-A4C7-4489636A1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9859E-FE10-3B3D-855C-7E98CFE0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891" y="542178"/>
            <a:ext cx="9992858" cy="801714"/>
          </a:xfrm>
        </p:spPr>
        <p:txBody>
          <a:bodyPr>
            <a:normAutofit/>
          </a:bodyPr>
          <a:lstStyle/>
          <a:p>
            <a:r>
              <a:rPr lang="en-IN" dirty="0"/>
              <a:t>Identify Peak &amp; Off-Peak Days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28B2E7-F452-EF10-66BD-3827E55DC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3940" y="173207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5F4BF88-76B1-52BE-B6DF-A57B15BC7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0771" y="1372388"/>
            <a:ext cx="100968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Peak Times: When the stock's closing price and trading volume exceed the 90th percentile.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Off-Peak Times: When both price and volume are below the threshold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0AC5E7F-8B97-43A3-4B1E-7190C37BE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1132" y="5750135"/>
            <a:ext cx="686810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Stock Closing Prices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(Blue Line)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Peak Trading Times (Buy Signals)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Marked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Red (▲)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Off-Peak Trading Times (Sell Signals)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Marked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Green (▼)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F73E2C-2A25-F75F-74DE-D0EDC8A99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17" y="2115064"/>
            <a:ext cx="8998527" cy="345978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B9462F-B17C-F09C-6B65-920DB7333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662997" y="3117857"/>
            <a:ext cx="57814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C5B359E-EAB7-1FA9-6D0A-807C34F3F4F6}"/>
              </a:ext>
            </a:extLst>
          </p:cNvPr>
          <p:cNvSpPr txBox="1"/>
          <p:nvPr/>
        </p:nvSpPr>
        <p:spPr>
          <a:xfrm>
            <a:off x="9256955" y="29519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Peak &amp; Off-Peak Trading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C4E273-1FCD-005A-DB2F-9272F6260FD9}"/>
              </a:ext>
            </a:extLst>
          </p:cNvPr>
          <p:cNvSpPr txBox="1"/>
          <p:nvPr/>
        </p:nvSpPr>
        <p:spPr>
          <a:xfrm>
            <a:off x="9326880" y="4780032"/>
            <a:ext cx="5442915" cy="662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Highlighting Peak</a:t>
            </a:r>
          </a:p>
          <a:p>
            <a:r>
              <a:rPr lang="en-US" dirty="0">
                <a:solidFill>
                  <a:schemeClr val="bg1"/>
                </a:solidFill>
              </a:rPr>
              <a:t>Trading Days (Buy Signals)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01C452-4642-F85E-66F6-E4D8C0F6E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876468" y="5093175"/>
            <a:ext cx="49376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727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AD29C59-2440-5C8E-E5D4-66B48BB41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25" y="553887"/>
            <a:ext cx="6289244" cy="57901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3B5AA5-3B0C-7117-E08E-453AF4B46156}"/>
              </a:ext>
            </a:extLst>
          </p:cNvPr>
          <p:cNvSpPr txBox="1"/>
          <p:nvPr/>
        </p:nvSpPr>
        <p:spPr>
          <a:xfrm>
            <a:off x="7167690" y="614165"/>
            <a:ext cx="37553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bg1"/>
                </a:solidFill>
              </a:rPr>
              <a:t>Uptrend: </a:t>
            </a:r>
            <a:r>
              <a:rPr lang="en-US" dirty="0">
                <a:solidFill>
                  <a:schemeClr val="bg1"/>
                </a:solidFill>
              </a:rPr>
              <a:t>The stock price shows an overall increase from 2020 to 2025.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🔺 Peak Trading Times: </a:t>
            </a:r>
            <a:r>
              <a:rPr lang="en-US" dirty="0">
                <a:solidFill>
                  <a:schemeClr val="bg1"/>
                </a:solidFill>
              </a:rPr>
              <a:t>More frequent as the stock price rises, indicating strong market confidence.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🔻 Off-Peak Trading Times: </a:t>
            </a:r>
            <a:r>
              <a:rPr lang="en-US" dirty="0">
                <a:solidFill>
                  <a:schemeClr val="bg1"/>
                </a:solidFill>
              </a:rPr>
              <a:t>Appear consistently, possibly due to periodic market corrections.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chemeClr val="bg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bg1"/>
                </a:solidFill>
              </a:rPr>
              <a:t>Just like this, I have analyzed for rest of the 4 stocks: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4E8DAA-A3C2-DEBC-A4E4-BDB368A43A1C}"/>
              </a:ext>
            </a:extLst>
          </p:cNvPr>
          <p:cNvSpPr txBox="1"/>
          <p:nvPr/>
        </p:nvSpPr>
        <p:spPr>
          <a:xfrm>
            <a:off x="7177067" y="4102915"/>
            <a:ext cx="37553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bg1"/>
                </a:solidFill>
              </a:rPr>
              <a:t>Conclusion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bg1"/>
                </a:solidFill>
              </a:rPr>
              <a:t>Buying at off-peak times and selling at peak times could be a profitable strategy.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bg1"/>
                </a:solidFill>
              </a:rPr>
              <a:t>This analysis helps in timing trades and understanding stock behavior based on historical data.</a:t>
            </a:r>
          </a:p>
        </p:txBody>
      </p:sp>
    </p:spTree>
    <p:extLst>
      <p:ext uri="{BB962C8B-B14F-4D97-AF65-F5344CB8AC3E}">
        <p14:creationId xmlns:p14="http://schemas.microsoft.com/office/powerpoint/2010/main" val="381659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C22D1A-76A7-EEEC-E620-EA7A9C10C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7" y="1668482"/>
            <a:ext cx="5670597" cy="4509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1E8518-AB23-533B-7538-442DB22AEA3E}"/>
              </a:ext>
            </a:extLst>
          </p:cNvPr>
          <p:cNvSpPr txBox="1"/>
          <p:nvPr/>
        </p:nvSpPr>
        <p:spPr>
          <a:xfrm>
            <a:off x="1986707" y="679990"/>
            <a:ext cx="9275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Insights from the Heatmap</a:t>
            </a:r>
            <a:endParaRPr lang="en-IN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837421-0CCF-5F72-115B-72F95D4BD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598" y="232094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6938842-5511-9565-1EAB-B2EB66440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1804" y="1614291"/>
            <a:ext cx="540702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CRWD and ZS (0.73): </a:t>
            </a:r>
            <a:r>
              <a:rPr lang="en-US" altLang="en-US" dirty="0">
                <a:solidFill>
                  <a:schemeClr val="bg1"/>
                </a:solidFill>
              </a:rPr>
              <a:t>Strongest correlation, meaning their daily returns have moved closely together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1"/>
                </a:solidFill>
              </a:rPr>
              <a:t>PANW and CRWD (0.59) and PANW and FTNT (0.59) </a:t>
            </a:r>
            <a:r>
              <a:rPr lang="en-US" altLang="en-US" dirty="0">
                <a:solidFill>
                  <a:schemeClr val="bg1"/>
                </a:solidFill>
              </a:rPr>
              <a:t>also show moderate positive correlations.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1"/>
                </a:solidFill>
              </a:rPr>
              <a:t>CHKP shows the lowest correlations with other stocks (e.g., CHKP-ZS: 0.34), indicating its returns are more independent compared to others.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772300-A8A5-826E-3741-87EEE7F07C70}"/>
              </a:ext>
            </a:extLst>
          </p:cNvPr>
          <p:cNvSpPr txBox="1"/>
          <p:nvPr/>
        </p:nvSpPr>
        <p:spPr>
          <a:xfrm>
            <a:off x="6331984" y="4115577"/>
            <a:ext cx="51293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bg1"/>
                </a:solidFill>
              </a:rPr>
              <a:t>Use Case: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bg1"/>
                </a:solidFill>
              </a:rPr>
              <a:t>Investors can use this heatmap to diversify portfolios. A mix of lower-correlated stocks reduces </a:t>
            </a:r>
            <a:r>
              <a:rPr lang="en-US" dirty="0" err="1">
                <a:solidFill>
                  <a:schemeClr val="bg1"/>
                </a:solidFill>
              </a:rPr>
              <a:t>risk.Traders</a:t>
            </a:r>
            <a:r>
              <a:rPr lang="en-US" dirty="0">
                <a:solidFill>
                  <a:schemeClr val="bg1"/>
                </a:solidFill>
              </a:rPr>
              <a:t> may use highly correlated stocks for sector-based trading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88263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48B5-2DD4-72BF-83E2-C3E3EEDFD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2D9087F-E8EE-D1AA-1818-F4525B399E28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38528722"/>
              </p:ext>
            </p:extLst>
          </p:nvPr>
        </p:nvGraphicFramePr>
        <p:xfrm>
          <a:off x="7024744" y="2538783"/>
          <a:ext cx="4613997" cy="202785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37999">
                  <a:extLst>
                    <a:ext uri="{9D8B030D-6E8A-4147-A177-3AD203B41FA5}">
                      <a16:colId xmlns:a16="http://schemas.microsoft.com/office/drawing/2014/main" val="2029298976"/>
                    </a:ext>
                  </a:extLst>
                </a:gridCol>
                <a:gridCol w="1537999">
                  <a:extLst>
                    <a:ext uri="{9D8B030D-6E8A-4147-A177-3AD203B41FA5}">
                      <a16:colId xmlns:a16="http://schemas.microsoft.com/office/drawing/2014/main" val="579917391"/>
                    </a:ext>
                  </a:extLst>
                </a:gridCol>
                <a:gridCol w="1537999">
                  <a:extLst>
                    <a:ext uri="{9D8B030D-6E8A-4147-A177-3AD203B41FA5}">
                      <a16:colId xmlns:a16="http://schemas.microsoft.com/office/drawing/2014/main" val="746376121"/>
                    </a:ext>
                  </a:extLst>
                </a:gridCol>
              </a:tblGrid>
              <a:tr h="787965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 marL="47018" marR="47018" marT="23509" marB="23509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Predicted Class 0</a:t>
                      </a:r>
                    </a:p>
                  </a:txBody>
                  <a:tcPr marL="47018" marR="47018" marT="23509" marB="23509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Predicted Class 1</a:t>
                      </a:r>
                    </a:p>
                  </a:txBody>
                  <a:tcPr marL="47018" marR="47018" marT="23509" marB="23509" anchor="ctr"/>
                </a:tc>
                <a:extLst>
                  <a:ext uri="{0D108BD9-81ED-4DB2-BD59-A6C34878D82A}">
                    <a16:rowId xmlns:a16="http://schemas.microsoft.com/office/drawing/2014/main" val="3721473959"/>
                  </a:ext>
                </a:extLst>
              </a:tr>
              <a:tr h="619947">
                <a:tc>
                  <a:txBody>
                    <a:bodyPr/>
                    <a:lstStyle/>
                    <a:p>
                      <a:r>
                        <a:rPr lang="en-IN" sz="1800" b="1" dirty="0"/>
                        <a:t>Actual Class 0</a:t>
                      </a:r>
                      <a:endParaRPr lang="en-IN" sz="1800" dirty="0"/>
                    </a:p>
                  </a:txBody>
                  <a:tcPr marL="47018" marR="47018" marT="23509" marB="23509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 (True Negative)</a:t>
                      </a:r>
                    </a:p>
                  </a:txBody>
                  <a:tcPr marL="47018" marR="47018" marT="23509" marB="23509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 (False Positive)</a:t>
                      </a:r>
                    </a:p>
                  </a:txBody>
                  <a:tcPr marL="47018" marR="47018" marT="23509" marB="23509" anchor="ctr"/>
                </a:tc>
                <a:extLst>
                  <a:ext uri="{0D108BD9-81ED-4DB2-BD59-A6C34878D82A}">
                    <a16:rowId xmlns:a16="http://schemas.microsoft.com/office/drawing/2014/main" val="4175001560"/>
                  </a:ext>
                </a:extLst>
              </a:tr>
              <a:tr h="619947">
                <a:tc>
                  <a:txBody>
                    <a:bodyPr/>
                    <a:lstStyle/>
                    <a:p>
                      <a:r>
                        <a:rPr lang="en-IN" sz="1800" b="1"/>
                        <a:t>Actual Class 1</a:t>
                      </a:r>
                      <a:endParaRPr lang="en-IN" sz="1800"/>
                    </a:p>
                  </a:txBody>
                  <a:tcPr marL="47018" marR="47018" marT="23509" marB="23509"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1 (False Negative)</a:t>
                      </a:r>
                    </a:p>
                  </a:txBody>
                  <a:tcPr marL="47018" marR="47018" marT="23509" marB="23509"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2 (True Positive)</a:t>
                      </a:r>
                    </a:p>
                  </a:txBody>
                  <a:tcPr marL="47018" marR="47018" marT="23509" marB="23509" anchor="ctr"/>
                </a:tc>
                <a:extLst>
                  <a:ext uri="{0D108BD9-81ED-4DB2-BD59-A6C34878D82A}">
                    <a16:rowId xmlns:a16="http://schemas.microsoft.com/office/drawing/2014/main" val="49434677"/>
                  </a:ext>
                </a:extLst>
              </a:tr>
            </a:tbl>
          </a:graphicData>
        </a:graphic>
      </p:graphicFrame>
      <p:pic>
        <p:nvPicPr>
          <p:cNvPr id="4" name="Content Placeholder 4" descr="Scales of Justice">
            <a:extLst>
              <a:ext uri="{FF2B5EF4-FFF2-40B4-BE49-F238E27FC236}">
                <a16:creationId xmlns:a16="http://schemas.microsoft.com/office/drawing/2014/main" id="{C200CEFC-F3C6-261A-9FC9-9A97EA5EB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880360"/>
            <a:ext cx="1097280" cy="1097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9D1B97-5574-CDD4-8DCE-110702589A10}"/>
              </a:ext>
            </a:extLst>
          </p:cNvPr>
          <p:cNvSpPr txBox="1"/>
          <p:nvPr/>
        </p:nvSpPr>
        <p:spPr>
          <a:xfrm>
            <a:off x="1996858" y="656487"/>
            <a:ext cx="10661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Insights: </a:t>
            </a:r>
            <a:r>
              <a:rPr lang="en-IN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Confusion Matrix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4F47FB-A67A-580E-9B55-A04F328F6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589224"/>
            <a:ext cx="6009563" cy="5104655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76FA717A-4A78-2F1A-9FFD-F22E194F3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26655" y="9907279"/>
            <a:ext cx="485532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Interpretation of the Matrix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672778-D4BC-8D92-9A97-5F24AAB8D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982" y="164121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38826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8B5A7-4E90-8C63-2BC0-8C810F442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Scales of Justice">
            <a:extLst>
              <a:ext uri="{FF2B5EF4-FFF2-40B4-BE49-F238E27FC236}">
                <a16:creationId xmlns:a16="http://schemas.microsoft.com/office/drawing/2014/main" id="{B79A5CD2-F505-9D6D-9D90-9433A43E0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880360"/>
            <a:ext cx="1097280" cy="1097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5E9D66-B6CE-0FE1-014B-9E9DADC15448}"/>
              </a:ext>
            </a:extLst>
          </p:cNvPr>
          <p:cNvSpPr txBox="1"/>
          <p:nvPr/>
        </p:nvSpPr>
        <p:spPr>
          <a:xfrm>
            <a:off x="1568334" y="563403"/>
            <a:ext cx="10661073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Insights: </a:t>
            </a:r>
            <a:r>
              <a:rPr lang="en-IN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Returns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C2E599-067B-A7D5-9B46-E11908069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270" y="182673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27A242-22D3-0E74-D6ED-35B26A18A494}"/>
              </a:ext>
            </a:extLst>
          </p:cNvPr>
          <p:cNvSpPr txBox="1"/>
          <p:nvPr/>
        </p:nvSpPr>
        <p:spPr>
          <a:xfrm>
            <a:off x="8490172" y="1859339"/>
            <a:ext cx="347749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</a:t>
            </a:r>
            <a:r>
              <a:rPr lang="en-US" b="1" dirty="0">
                <a:solidFill>
                  <a:schemeClr val="bg1"/>
                </a:solidFill>
              </a:rPr>
              <a:t>cumulative returns chart</a:t>
            </a:r>
            <a:r>
              <a:rPr lang="en-US" dirty="0">
                <a:solidFill>
                  <a:schemeClr val="bg1"/>
                </a:solidFill>
              </a:rPr>
              <a:t> (2020–2025) compares five cybersecurity stocks: </a:t>
            </a:r>
            <a:r>
              <a:rPr lang="en-US" b="1" dirty="0">
                <a:solidFill>
                  <a:schemeClr val="bg1"/>
                </a:solidFill>
              </a:rPr>
              <a:t>CRWD and ZS</a:t>
            </a:r>
            <a:r>
              <a:rPr lang="en-US" dirty="0">
                <a:solidFill>
                  <a:schemeClr val="bg1"/>
                </a:solidFill>
              </a:rPr>
              <a:t> show the highest growth but with high volatility, </a:t>
            </a:r>
            <a:r>
              <a:rPr lang="en-US" b="1" dirty="0">
                <a:solidFill>
                  <a:schemeClr val="bg1"/>
                </a:solidFill>
              </a:rPr>
              <a:t>PANW and FTNT</a:t>
            </a:r>
            <a:r>
              <a:rPr lang="en-US" dirty="0">
                <a:solidFill>
                  <a:schemeClr val="bg1"/>
                </a:solidFill>
              </a:rPr>
              <a:t> exhibit steady moderate gains, while </a:t>
            </a:r>
            <a:r>
              <a:rPr lang="en-US" b="1" dirty="0">
                <a:solidFill>
                  <a:schemeClr val="bg1"/>
                </a:solidFill>
              </a:rPr>
              <a:t>CHKP</a:t>
            </a:r>
            <a:r>
              <a:rPr lang="en-US" dirty="0">
                <a:solidFill>
                  <a:schemeClr val="bg1"/>
                </a:solidFill>
              </a:rPr>
              <a:t> has the lowest growth with stability. High-growth stocks suit risk-tolerant investors, while stable ones are better for conservative strategies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726EB3-BB81-5C43-C228-1E786C320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046" y="1330404"/>
            <a:ext cx="8074536" cy="5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647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8DAEC-E7CE-99E3-CE00-FF38E5F41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6A419AC-0087-C402-4492-A316FB83BCE9}"/>
              </a:ext>
            </a:extLst>
          </p:cNvPr>
          <p:cNvSpPr txBox="1"/>
          <p:nvPr/>
        </p:nvSpPr>
        <p:spPr>
          <a:xfrm>
            <a:off x="1671918" y="745329"/>
            <a:ext cx="875762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I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Compare: Z-score &amp; Random Forest Model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E7CABB-D6CC-CF19-4200-2E17A0E28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732" y="169388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C97BF5-1563-C160-FEAD-32CFA3DB1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90" y="1632160"/>
            <a:ext cx="6832035" cy="4582028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602A1E47-B00E-E32A-CD02-F1E8F431F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0447" y="1632160"/>
            <a:ext cx="393137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Actual Stock Price Trends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black solid lines represent the real stock prices, showing an overall upward trend with some fluctuations.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Z-Score Predictions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These appear as red dashed lines and seem relatively stable.</a:t>
            </a:r>
            <a:r>
              <a:rPr lang="en-US" altLang="en-US" sz="1400" dirty="0">
                <a:solidFill>
                  <a:schemeClr val="bg1"/>
                </a:solidFill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They do not capture volatility well but may provide a baseline estimate.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Random Forest Predictions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blue dashed lines fluctuate significantly, indicating the model reacts more to short-term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movements.It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shows more variance but captures some aspects of stock price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Comparison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Z-Score method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provides smoother but less dynamic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predictions.The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Random Forest model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is more volatile but aligns more closely with short-term fluctuations in actual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768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264475"/>
            <a:ext cx="7651376" cy="1645920"/>
          </a:xfrm>
        </p:spPr>
        <p:txBody>
          <a:bodyPr/>
          <a:lstStyle/>
          <a:p>
            <a:r>
              <a:rPr lang="en-US" sz="1800" b="1" dirty="0">
                <a:latin typeface="Franklin Gothic Book" panose="020B0503020102020204" pitchFamily="34" charset="0"/>
                <a:cs typeface="Segoe UI" panose="020B0502040204020203" pitchFamily="34" charset="0"/>
              </a:rPr>
              <a:t>Yelena Mujibur Sheikh </a:t>
            </a:r>
          </a:p>
          <a:p>
            <a:r>
              <a:rPr lang="en-US" sz="1800" b="1" dirty="0">
                <a:latin typeface="Franklin Gothic Book" panose="020B0503020102020204" pitchFamily="34" charset="0"/>
                <a:cs typeface="Segoe UI" panose="020B0502040204020203" pitchFamily="34" charset="0"/>
              </a:rPr>
              <a:t>Masters In Information Systems- Cybersecurity</a:t>
            </a:r>
          </a:p>
          <a:p>
            <a:r>
              <a:rPr lang="en-US" sz="1800" dirty="0"/>
              <a:t>www.linkedin.com/in/yelena-mujibur-sheikh-321215192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BF3FDD-3F5F-5B30-24BF-08650A07E470}"/>
              </a:ext>
            </a:extLst>
          </p:cNvPr>
          <p:cNvSpPr txBox="1"/>
          <p:nvPr/>
        </p:nvSpPr>
        <p:spPr>
          <a:xfrm>
            <a:off x="519056" y="6324564"/>
            <a:ext cx="7331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</a:rPr>
              <a:t>For a detailed analysis, please visit my GitHub page.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5E64A3-D099-45B6-E01D-3FE167630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293212"/>
            <a:ext cx="1184142" cy="11299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F1CFEC-1C14-79B3-91FC-E3A9F3DB8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524" y="5278799"/>
            <a:ext cx="1090492" cy="11299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34D0A2-68FA-0AFB-1510-91F27324E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7683" y="5297120"/>
            <a:ext cx="1107982" cy="11438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E4E73B1-DEE8-409E-EB88-7C36F02F31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322" r="5276" b="7651"/>
          <a:stretch/>
        </p:blipFill>
        <p:spPr>
          <a:xfrm>
            <a:off x="4636209" y="5268212"/>
            <a:ext cx="1094206" cy="105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{034E4D86-F550-4787-9887-B8B1F7256BBA}tf78853419_win32</Template>
  <TotalTime>50</TotalTime>
  <Words>1228</Words>
  <Application>Microsoft Office PowerPoint</Application>
  <PresentationFormat>Widescreen</PresentationFormat>
  <Paragraphs>167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ADLaM Display</vt:lpstr>
      <vt:lpstr>Arial</vt:lpstr>
      <vt:lpstr>Calibri</vt:lpstr>
      <vt:lpstr>Franklin Gothic Book</vt:lpstr>
      <vt:lpstr>Franklin Gothic Demi</vt:lpstr>
      <vt:lpstr>Segoe UI</vt:lpstr>
      <vt:lpstr>system-ui</vt:lpstr>
      <vt:lpstr>Custom</vt:lpstr>
      <vt:lpstr>Predicting Stock Prices Using Historical Data</vt:lpstr>
      <vt:lpstr> Aim to Solve the problem:</vt:lpstr>
      <vt:lpstr>Data Extraction Using yFinance</vt:lpstr>
      <vt:lpstr>Variance Analysis &amp; Tricks</vt:lpstr>
      <vt:lpstr>Variance Analysis &amp; Tricks</vt:lpstr>
      <vt:lpstr>Variance Analysis &amp; Tricks</vt:lpstr>
      <vt:lpstr>Identify Peak &amp; Off-Peak Days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Khatik, Awez Akhtar</dc:creator>
  <cp:lastModifiedBy>Yelena Sheikh</cp:lastModifiedBy>
  <cp:revision>4</cp:revision>
  <dcterms:created xsi:type="dcterms:W3CDTF">2025-02-17T02:56:18Z</dcterms:created>
  <dcterms:modified xsi:type="dcterms:W3CDTF">2025-02-17T04:01:29Z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